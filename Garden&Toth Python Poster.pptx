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792DE1-ECBB-CCB4-BBF3-8930CC5B3C2F}" name="Garden, Brynna" initials="GB" userId="S::bgarden@emory.edu::224ac86e-adc5-4868-b0cc-5b010c20f6c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93AEAC-2FAF-A58F-C19E-CD0C971A2B33}" v="3" dt="2025-12-11T14:59:37.2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089D3A-0EDA-7F27-E98C-71DFD17DF9EA}"/>
              </a:ext>
            </a:extLst>
          </p:cNvPr>
          <p:cNvSpPr/>
          <p:nvPr/>
        </p:nvSpPr>
        <p:spPr>
          <a:xfrm>
            <a:off x="0" y="0"/>
            <a:ext cx="12199696" cy="1048002"/>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latin typeface="Times New Roman"/>
                <a:cs typeface="Times New Roman"/>
              </a:rPr>
              <a:t>Mass Killings in America: Demographics, Outcomes, Process and Suicidality</a:t>
            </a:r>
            <a:endParaRPr lang="en-US" sz="2800" b="1">
              <a:latin typeface="Times New Roman"/>
              <a:cs typeface="Times New Roman"/>
            </a:endParaRPr>
          </a:p>
          <a:p>
            <a:pPr algn="ctr"/>
            <a:r>
              <a:rPr lang="en-US" dirty="0">
                <a:latin typeface="Times New Roman"/>
                <a:cs typeface="Times New Roman"/>
              </a:rPr>
              <a:t>Brynna Garden &amp; Paige Toth </a:t>
            </a:r>
          </a:p>
          <a:p>
            <a:pPr algn="ctr"/>
            <a:r>
              <a:rPr lang="en-US" dirty="0">
                <a:latin typeface="Times New Roman"/>
                <a:cs typeface="Times New Roman"/>
              </a:rPr>
              <a:t>Rollins School of Public Health | Emory University </a:t>
            </a:r>
          </a:p>
        </p:txBody>
      </p:sp>
      <p:sp>
        <p:nvSpPr>
          <p:cNvPr id="9" name="Rectangle 8">
            <a:extLst>
              <a:ext uri="{FF2B5EF4-FFF2-40B4-BE49-F238E27FC236}">
                <a16:creationId xmlns:a16="http://schemas.microsoft.com/office/drawing/2014/main" id="{D939415F-E920-103A-0AE4-B61A5F52551E}"/>
              </a:ext>
            </a:extLst>
          </p:cNvPr>
          <p:cNvSpPr/>
          <p:nvPr/>
        </p:nvSpPr>
        <p:spPr>
          <a:xfrm>
            <a:off x="113023" y="1125581"/>
            <a:ext cx="3814658" cy="292484"/>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Introduction</a:t>
            </a:r>
          </a:p>
        </p:txBody>
      </p:sp>
      <p:sp>
        <p:nvSpPr>
          <p:cNvPr id="10" name="Rectangle 9">
            <a:extLst>
              <a:ext uri="{FF2B5EF4-FFF2-40B4-BE49-F238E27FC236}">
                <a16:creationId xmlns:a16="http://schemas.microsoft.com/office/drawing/2014/main" id="{1E3770F6-2587-4322-A733-113F25A720E0}"/>
              </a:ext>
            </a:extLst>
          </p:cNvPr>
          <p:cNvSpPr/>
          <p:nvPr/>
        </p:nvSpPr>
        <p:spPr>
          <a:xfrm>
            <a:off x="113991" y="3305125"/>
            <a:ext cx="3814658" cy="279116"/>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Research Questions</a:t>
            </a:r>
          </a:p>
        </p:txBody>
      </p:sp>
      <p:sp>
        <p:nvSpPr>
          <p:cNvPr id="11" name="Rectangle 10">
            <a:extLst>
              <a:ext uri="{FF2B5EF4-FFF2-40B4-BE49-F238E27FC236}">
                <a16:creationId xmlns:a16="http://schemas.microsoft.com/office/drawing/2014/main" id="{BE6C542A-1C30-C64C-9C9E-2228EDB30FED}"/>
              </a:ext>
            </a:extLst>
          </p:cNvPr>
          <p:cNvSpPr/>
          <p:nvPr/>
        </p:nvSpPr>
        <p:spPr>
          <a:xfrm>
            <a:off x="103791" y="4843216"/>
            <a:ext cx="3814657" cy="292484"/>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Methods</a:t>
            </a:r>
          </a:p>
        </p:txBody>
      </p:sp>
      <p:sp>
        <p:nvSpPr>
          <p:cNvPr id="12" name="Rectangle 11">
            <a:extLst>
              <a:ext uri="{FF2B5EF4-FFF2-40B4-BE49-F238E27FC236}">
                <a16:creationId xmlns:a16="http://schemas.microsoft.com/office/drawing/2014/main" id="{3F2D2270-FE12-0A3C-AB30-046A03D08548}"/>
              </a:ext>
            </a:extLst>
          </p:cNvPr>
          <p:cNvSpPr/>
          <p:nvPr/>
        </p:nvSpPr>
        <p:spPr>
          <a:xfrm>
            <a:off x="4192199" y="1125579"/>
            <a:ext cx="3814658" cy="292484"/>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Graphs</a:t>
            </a:r>
          </a:p>
        </p:txBody>
      </p:sp>
      <p:sp>
        <p:nvSpPr>
          <p:cNvPr id="13" name="Rectangle 12">
            <a:extLst>
              <a:ext uri="{FF2B5EF4-FFF2-40B4-BE49-F238E27FC236}">
                <a16:creationId xmlns:a16="http://schemas.microsoft.com/office/drawing/2014/main" id="{73C16EB6-5D5D-9078-F931-7A0B50F1350D}"/>
              </a:ext>
            </a:extLst>
          </p:cNvPr>
          <p:cNvSpPr/>
          <p:nvPr/>
        </p:nvSpPr>
        <p:spPr>
          <a:xfrm>
            <a:off x="8263895" y="4726302"/>
            <a:ext cx="3814658" cy="292484"/>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Conclusion</a:t>
            </a:r>
          </a:p>
        </p:txBody>
      </p:sp>
      <p:sp>
        <p:nvSpPr>
          <p:cNvPr id="14" name="TextBox 13">
            <a:extLst>
              <a:ext uri="{FF2B5EF4-FFF2-40B4-BE49-F238E27FC236}">
                <a16:creationId xmlns:a16="http://schemas.microsoft.com/office/drawing/2014/main" id="{A2EDA5D1-CCD5-BF3B-69CE-EFD407FBB6D9}"/>
              </a:ext>
            </a:extLst>
          </p:cNvPr>
          <p:cNvSpPr txBox="1"/>
          <p:nvPr/>
        </p:nvSpPr>
        <p:spPr>
          <a:xfrm>
            <a:off x="643155" y="4879595"/>
            <a:ext cx="2418825" cy="16358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986B8271-556D-5135-0A27-C6A8BD012A52}"/>
              </a:ext>
            </a:extLst>
          </p:cNvPr>
          <p:cNvSpPr txBox="1"/>
          <p:nvPr/>
        </p:nvSpPr>
        <p:spPr>
          <a:xfrm>
            <a:off x="103420" y="3588531"/>
            <a:ext cx="3821956" cy="1169551"/>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000" dirty="0">
                <a:latin typeface="Times New Roman"/>
                <a:cs typeface="Times New Roman"/>
              </a:rPr>
              <a:t>What is the association between race and offenders' criminal justice outcome following a mass killing?</a:t>
            </a:r>
          </a:p>
          <a:p>
            <a:pPr marL="171450" indent="-171450">
              <a:buFont typeface="Arial"/>
              <a:buChar char="•"/>
            </a:pPr>
            <a:r>
              <a:rPr lang="en-US" sz="1000" dirty="0">
                <a:latin typeface="Times New Roman"/>
                <a:cs typeface="Times New Roman"/>
              </a:rPr>
              <a:t>What is the association between race and where the offender is in the criminal justice process following a mass killing?</a:t>
            </a:r>
          </a:p>
          <a:p>
            <a:pPr marL="171450" indent="-171450">
              <a:buFont typeface="Arial"/>
              <a:buChar char="•"/>
            </a:pPr>
            <a:r>
              <a:rPr lang="en-US" sz="1000" dirty="0">
                <a:latin typeface="Times New Roman"/>
                <a:cs typeface="Times New Roman"/>
              </a:rPr>
              <a:t>What is the association between demographic variables (i.e., age and sex) and whether the offender died by suicide following a mass killing?</a:t>
            </a:r>
            <a:endParaRPr lang="en-US" sz="1000">
              <a:latin typeface="Aptos"/>
              <a:cs typeface="Times New Roman"/>
            </a:endParaRPr>
          </a:p>
        </p:txBody>
      </p:sp>
      <p:sp>
        <p:nvSpPr>
          <p:cNvPr id="2" name="TextBox 1">
            <a:extLst>
              <a:ext uri="{FF2B5EF4-FFF2-40B4-BE49-F238E27FC236}">
                <a16:creationId xmlns:a16="http://schemas.microsoft.com/office/drawing/2014/main" id="{711E6F5F-E532-7B1D-ED8B-C5A9A250BA0D}"/>
              </a:ext>
            </a:extLst>
          </p:cNvPr>
          <p:cNvSpPr txBox="1"/>
          <p:nvPr/>
        </p:nvSpPr>
        <p:spPr>
          <a:xfrm>
            <a:off x="111115" y="1421632"/>
            <a:ext cx="3806565" cy="1785104"/>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latin typeface="Times New Roman"/>
                <a:cs typeface="Times New Roman"/>
              </a:rPr>
              <a:t>The Mass Killings dataset contains all mass killings (4 or more people) in the United States from 2006 to the present day. Variables include offender id, first name, middle name, last name, age, race, sex, suicide, cause of death, outcome, criminal justice process, sentence type, and sentence details.</a:t>
            </a:r>
          </a:p>
          <a:p>
            <a:r>
              <a:rPr lang="en-US" sz="1000" dirty="0">
                <a:latin typeface="Times New Roman"/>
                <a:cs typeface="Times New Roman"/>
              </a:rPr>
              <a:t>Paige and Brynna are both in the injury and violence prevention certificate at Rollins, thus, are both very interested in understanding outcomes and variables related to violence and the criminal justice system, especially in the United States. This dataset will allow the researchers to investigate criminal justice outcomes following a mass killing against different demographics and suicidality. </a:t>
            </a:r>
          </a:p>
        </p:txBody>
      </p:sp>
      <p:sp>
        <p:nvSpPr>
          <p:cNvPr id="3" name="TextBox 2">
            <a:extLst>
              <a:ext uri="{FF2B5EF4-FFF2-40B4-BE49-F238E27FC236}">
                <a16:creationId xmlns:a16="http://schemas.microsoft.com/office/drawing/2014/main" id="{D75C3D51-D640-D7AD-72BE-D5FCF5A2CA26}"/>
              </a:ext>
            </a:extLst>
          </p:cNvPr>
          <p:cNvSpPr txBox="1"/>
          <p:nvPr/>
        </p:nvSpPr>
        <p:spPr>
          <a:xfrm>
            <a:off x="103420" y="5135622"/>
            <a:ext cx="3845047" cy="1631216"/>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latin typeface="Times New Roman"/>
                <a:cs typeface="Times New Roman"/>
              </a:rPr>
              <a:t>The five variables of interest in this analysis of the </a:t>
            </a:r>
            <a:r>
              <a:rPr lang="en-US" sz="1000" i="1" dirty="0">
                <a:latin typeface="Times New Roman"/>
                <a:cs typeface="Times New Roman"/>
              </a:rPr>
              <a:t>Mass Killings in America 2006 to Present</a:t>
            </a:r>
            <a:r>
              <a:rPr lang="en-US" sz="1000" dirty="0">
                <a:latin typeface="Times New Roman"/>
                <a:cs typeface="Times New Roman"/>
              </a:rPr>
              <a:t> dataset are race, age, sex, outcome, and criminal justice process. The pandas, numpy, and os packages in Pycharm were used to conduct statistical analyses and create graphs. All of the variables are categorical. Univariate analysis for all variables will include examination of frequencies and proportions. Descriptive statistics for all variables will be visualized using stacked bar charts. Chi-square tests will be used to answer all of the research questions. All analyses will be performed using </a:t>
            </a:r>
            <a:r>
              <a:rPr lang="en-US" sz="1000" dirty="0" err="1">
                <a:latin typeface="Times New Roman"/>
                <a:cs typeface="Times New Roman"/>
              </a:rPr>
              <a:t>Pycharm</a:t>
            </a:r>
            <a:r>
              <a:rPr lang="en-US" sz="1000" dirty="0">
                <a:latin typeface="Times New Roman"/>
                <a:cs typeface="Times New Roman"/>
              </a:rPr>
              <a:t> (version JCEF 122.1.9).</a:t>
            </a:r>
            <a:endParaRPr lang="en-US" sz="1000">
              <a:latin typeface="Aptos" panose="020B0004020202020204"/>
              <a:cs typeface="Times New Roman"/>
            </a:endParaRPr>
          </a:p>
        </p:txBody>
      </p:sp>
      <p:sp>
        <p:nvSpPr>
          <p:cNvPr id="4" name="TextBox 3">
            <a:extLst>
              <a:ext uri="{FF2B5EF4-FFF2-40B4-BE49-F238E27FC236}">
                <a16:creationId xmlns:a16="http://schemas.microsoft.com/office/drawing/2014/main" id="{A889C34E-5A5E-0EDE-B301-5D9D877A84BB}"/>
              </a:ext>
            </a:extLst>
          </p:cNvPr>
          <p:cNvSpPr txBox="1"/>
          <p:nvPr/>
        </p:nvSpPr>
        <p:spPr>
          <a:xfrm>
            <a:off x="8255524" y="1417986"/>
            <a:ext cx="3820944" cy="3139321"/>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dirty="0">
                <a:latin typeface="Times New Roman"/>
                <a:cs typeface="Times New Roman"/>
              </a:rPr>
              <a:t>Criminal Justice Outcome by Race</a:t>
            </a:r>
          </a:p>
          <a:p>
            <a:r>
              <a:rPr lang="en-US" sz="1100" dirty="0">
                <a:latin typeface="Times New Roman"/>
                <a:cs typeface="Times New Roman"/>
              </a:rPr>
              <a:t>After conducting the chi-square analysis, we reject the null hypothesis and find that there is a significant correlation between race and criminal justice outcome in this sample (X</a:t>
            </a:r>
            <a:r>
              <a:rPr lang="en-US" sz="1100" baseline="30000" dirty="0">
                <a:latin typeface="Times New Roman"/>
                <a:cs typeface="Times New Roman"/>
              </a:rPr>
              <a:t>2 </a:t>
            </a:r>
            <a:r>
              <a:rPr lang="en-US" sz="1100" dirty="0">
                <a:latin typeface="Times New Roman"/>
                <a:cs typeface="Times New Roman"/>
              </a:rPr>
              <a:t>= 207.72, </a:t>
            </a:r>
            <a:r>
              <a:rPr lang="en-US" sz="1100" err="1">
                <a:latin typeface="Times New Roman"/>
                <a:cs typeface="Times New Roman"/>
              </a:rPr>
              <a:t>df</a:t>
            </a:r>
            <a:r>
              <a:rPr lang="en-US" sz="1100" dirty="0">
                <a:latin typeface="Times New Roman"/>
                <a:cs typeface="Times New Roman"/>
              </a:rPr>
              <a:t> = 18, p-value = 2.84). </a:t>
            </a:r>
          </a:p>
          <a:p>
            <a:endParaRPr lang="en-US" sz="1100" dirty="0">
              <a:latin typeface="Times New Roman"/>
              <a:cs typeface="Times New Roman"/>
            </a:endParaRPr>
          </a:p>
          <a:p>
            <a:r>
              <a:rPr lang="en-US" sz="1100" b="1" dirty="0">
                <a:latin typeface="Times New Roman"/>
                <a:cs typeface="Times New Roman"/>
              </a:rPr>
              <a:t>Place in the Criminal Justice Process by Race</a:t>
            </a:r>
          </a:p>
          <a:p>
            <a:r>
              <a:rPr lang="en-US" sz="1100" dirty="0">
                <a:latin typeface="Times New Roman"/>
                <a:cs typeface="Times New Roman"/>
              </a:rPr>
              <a:t>After conducting the chi-square analysis, we reject the null hypothesis and find that there is a significant correlation between race and where the offender is in the criminal justice process following a mass killing (X</a:t>
            </a:r>
            <a:r>
              <a:rPr lang="en-US" sz="1100" baseline="30000" dirty="0">
                <a:latin typeface="Times New Roman"/>
                <a:cs typeface="Times New Roman"/>
              </a:rPr>
              <a:t>2 </a:t>
            </a:r>
            <a:r>
              <a:rPr lang="en-US" sz="1100" dirty="0">
                <a:latin typeface="Times New Roman"/>
                <a:cs typeface="Times New Roman"/>
              </a:rPr>
              <a:t>= 93.38, </a:t>
            </a:r>
            <a:r>
              <a:rPr lang="en-US" sz="1100" dirty="0" err="1">
                <a:latin typeface="Times New Roman"/>
                <a:cs typeface="Times New Roman"/>
              </a:rPr>
              <a:t>df</a:t>
            </a:r>
            <a:r>
              <a:rPr lang="en-US" sz="1100" dirty="0">
                <a:latin typeface="Times New Roman"/>
                <a:cs typeface="Times New Roman"/>
              </a:rPr>
              <a:t> = 12, p-value = 1.09).</a:t>
            </a:r>
            <a:endParaRPr lang="en-US" sz="1100"/>
          </a:p>
          <a:p>
            <a:endParaRPr lang="en-US" sz="1100" dirty="0">
              <a:latin typeface="Times New Roman"/>
              <a:cs typeface="Times New Roman"/>
            </a:endParaRPr>
          </a:p>
          <a:p>
            <a:r>
              <a:rPr lang="en-US" sz="1100" b="1" dirty="0">
                <a:latin typeface="Times New Roman"/>
                <a:cs typeface="Times New Roman"/>
              </a:rPr>
              <a:t>Suicide Outcome by Age Group and Sex </a:t>
            </a:r>
          </a:p>
          <a:p>
            <a:r>
              <a:rPr lang="en-US" sz="1100" dirty="0">
                <a:latin typeface="Times New Roman"/>
                <a:cs typeface="Times New Roman"/>
              </a:rPr>
              <a:t>After conducting the chi-square analysis, we reject the null hypothesis and find that there is a significant correlation between age, sex, and the outcome of suicide in this sample (X</a:t>
            </a:r>
            <a:r>
              <a:rPr lang="en-US" sz="1100" baseline="30000" dirty="0">
                <a:latin typeface="Times New Roman"/>
                <a:cs typeface="Times New Roman"/>
              </a:rPr>
              <a:t>2 </a:t>
            </a:r>
            <a:r>
              <a:rPr lang="en-US" sz="1100" dirty="0">
                <a:latin typeface="Times New Roman"/>
                <a:cs typeface="Times New Roman"/>
              </a:rPr>
              <a:t>= 82.87, </a:t>
            </a:r>
            <a:r>
              <a:rPr lang="en-US" sz="1100" dirty="0" err="1">
                <a:latin typeface="Times New Roman"/>
                <a:cs typeface="Times New Roman"/>
              </a:rPr>
              <a:t>df</a:t>
            </a:r>
            <a:r>
              <a:rPr lang="en-US" sz="1100" dirty="0">
                <a:latin typeface="Times New Roman"/>
                <a:cs typeface="Times New Roman"/>
              </a:rPr>
              <a:t> = 9, p-value = 4.34).</a:t>
            </a:r>
          </a:p>
          <a:p>
            <a:endParaRPr lang="en-US" sz="1100" dirty="0">
              <a:latin typeface="Times New Roman"/>
              <a:cs typeface="Times New Roman"/>
            </a:endParaRPr>
          </a:p>
        </p:txBody>
      </p:sp>
      <p:sp>
        <p:nvSpPr>
          <p:cNvPr id="5" name="TextBox 4">
            <a:extLst>
              <a:ext uri="{FF2B5EF4-FFF2-40B4-BE49-F238E27FC236}">
                <a16:creationId xmlns:a16="http://schemas.microsoft.com/office/drawing/2014/main" id="{226B4B7A-3287-8DED-0862-800CDA80D5AE}"/>
              </a:ext>
            </a:extLst>
          </p:cNvPr>
          <p:cNvSpPr txBox="1"/>
          <p:nvPr/>
        </p:nvSpPr>
        <p:spPr>
          <a:xfrm>
            <a:off x="8254510" y="5024015"/>
            <a:ext cx="3821956" cy="1615827"/>
          </a:xfrm>
          <a:prstGeom prst="rect">
            <a:avLst/>
          </a:prstGeom>
          <a:solidFill>
            <a:schemeClr val="bg1"/>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latin typeface="Times New Roman"/>
                <a:cs typeface="Times New Roman"/>
              </a:rPr>
              <a:t>Based on our evaluation, we can infer there is a significant correlation between criminal justice outcome and race, place in the criminal justice process and race, and suicide outcome by age group and sex. We are limited in our analysis by way of it being a secondary data analysis and by having only quantitative data as to why a perpetrator may commit a mass murder. </a:t>
            </a:r>
          </a:p>
          <a:p>
            <a:r>
              <a:rPr lang="en-US" sz="1100" dirty="0">
                <a:latin typeface="Times New Roman"/>
                <a:cs typeface="Times New Roman"/>
              </a:rPr>
              <a:t>Further research is necessary to determine true causation between demographics, risks of perpetrating a mass killing, and adverse outcomes, such as suicide, following a mass killing. </a:t>
            </a:r>
          </a:p>
        </p:txBody>
      </p:sp>
      <p:sp>
        <p:nvSpPr>
          <p:cNvPr id="6" name="Rectangle 5">
            <a:extLst>
              <a:ext uri="{FF2B5EF4-FFF2-40B4-BE49-F238E27FC236}">
                <a16:creationId xmlns:a16="http://schemas.microsoft.com/office/drawing/2014/main" id="{ED4EE265-75F1-099C-462A-6E3AA5682DB7}"/>
              </a:ext>
            </a:extLst>
          </p:cNvPr>
          <p:cNvSpPr/>
          <p:nvPr/>
        </p:nvSpPr>
        <p:spPr>
          <a:xfrm>
            <a:off x="8263895" y="1125579"/>
            <a:ext cx="3814658" cy="292484"/>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Times New Roman"/>
                <a:cs typeface="Times New Roman"/>
              </a:rPr>
              <a:t>Results</a:t>
            </a:r>
          </a:p>
        </p:txBody>
      </p:sp>
      <p:pic>
        <p:nvPicPr>
          <p:cNvPr id="7" name="Picture 6">
            <a:extLst>
              <a:ext uri="{FF2B5EF4-FFF2-40B4-BE49-F238E27FC236}">
                <a16:creationId xmlns:a16="http://schemas.microsoft.com/office/drawing/2014/main" id="{BEC81C14-8EA5-0001-94D0-E9D31D941133}"/>
              </a:ext>
            </a:extLst>
          </p:cNvPr>
          <p:cNvPicPr>
            <a:picLocks noChangeAspect="1"/>
          </p:cNvPicPr>
          <p:nvPr/>
        </p:nvPicPr>
        <p:blipFill>
          <a:blip r:embed="rId2"/>
          <a:stretch>
            <a:fillRect/>
          </a:stretch>
        </p:blipFill>
        <p:spPr>
          <a:xfrm>
            <a:off x="4598073" y="1435003"/>
            <a:ext cx="2995853" cy="1763569"/>
          </a:xfrm>
          <a:prstGeom prst="rect">
            <a:avLst/>
          </a:prstGeom>
        </p:spPr>
      </p:pic>
      <p:pic>
        <p:nvPicPr>
          <p:cNvPr id="16" name="Picture 15" descr="A graph of different colored squares&#10;&#10;AI-generated content may be incorrect.">
            <a:extLst>
              <a:ext uri="{FF2B5EF4-FFF2-40B4-BE49-F238E27FC236}">
                <a16:creationId xmlns:a16="http://schemas.microsoft.com/office/drawing/2014/main" id="{10BD5CB8-438F-03FD-508C-F1ACACE90BA6}"/>
              </a:ext>
            </a:extLst>
          </p:cNvPr>
          <p:cNvPicPr>
            <a:picLocks noChangeAspect="1"/>
          </p:cNvPicPr>
          <p:nvPr/>
        </p:nvPicPr>
        <p:blipFill>
          <a:blip r:embed="rId3"/>
          <a:stretch>
            <a:fillRect/>
          </a:stretch>
        </p:blipFill>
        <p:spPr>
          <a:xfrm>
            <a:off x="4598072" y="3251488"/>
            <a:ext cx="2995853" cy="1732783"/>
          </a:xfrm>
          <a:prstGeom prst="rect">
            <a:avLst/>
          </a:prstGeom>
        </p:spPr>
      </p:pic>
      <p:pic>
        <p:nvPicPr>
          <p:cNvPr id="18" name="Picture 17" descr="A graph of suicide outcome&#10;&#10;AI-generated content may be incorrect.">
            <a:extLst>
              <a:ext uri="{FF2B5EF4-FFF2-40B4-BE49-F238E27FC236}">
                <a16:creationId xmlns:a16="http://schemas.microsoft.com/office/drawing/2014/main" id="{C81E4FE5-54D8-DBCB-BF9F-9041FFC74FC3}"/>
              </a:ext>
            </a:extLst>
          </p:cNvPr>
          <p:cNvPicPr>
            <a:picLocks noChangeAspect="1"/>
          </p:cNvPicPr>
          <p:nvPr/>
        </p:nvPicPr>
        <p:blipFill>
          <a:blip r:embed="rId4"/>
          <a:stretch>
            <a:fillRect/>
          </a:stretch>
        </p:blipFill>
        <p:spPr>
          <a:xfrm>
            <a:off x="4600286" y="5021790"/>
            <a:ext cx="2999124" cy="1748175"/>
          </a:xfrm>
          <a:prstGeom prst="rect">
            <a:avLst/>
          </a:prstGeom>
        </p:spPr>
      </p:pic>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332</cp:revision>
  <dcterms:created xsi:type="dcterms:W3CDTF">2025-11-30T17:03:00Z</dcterms:created>
  <dcterms:modified xsi:type="dcterms:W3CDTF">2025-12-11T15:00:01Z</dcterms:modified>
</cp:coreProperties>
</file>